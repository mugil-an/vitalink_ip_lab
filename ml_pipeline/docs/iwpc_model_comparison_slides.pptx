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524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WARFARIN DOSE MODELING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D1B16"/>
                </a:solidFill>
                <a:latin typeface="Georgia"/>
              </a:rPr>
              <a:t>IWPC calculator benchmarking with machine-learning baselines and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00784"/>
            <a:ext cx="7040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1700" b="0">
                <a:solidFill>
                  <a:srgbClr val="3F4A52"/>
                </a:solidFill>
                <a:latin typeface="Georgia"/>
              </a:rPr>
              <a:t>Shared 20% holdout evaluation on the IWPC cohort using the official IWPC clinical and pharmacogenetic formulas alongside linear regression, random forest, XGBoost, neural network, and the tuned LightGBM repository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658368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5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3F4A52"/>
                </a:solidFill>
                <a:latin typeface="Calibri"/>
              </a:rPr>
              <a:t>BEST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5760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D5B36"/>
                </a:solidFill>
                <a:latin typeface="Georgia"/>
              </a:rPr>
              <a:t>Our Model (Tuned LightGBM)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13632"/>
            <a:ext cx="5760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D1B16"/>
                </a:solidFill>
                <a:latin typeface="Calibri"/>
              </a:rPr>
              <a:t>RMSE 11.90 mg/week   |   MAE 8.70 mg/week   |   R² 0.421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315968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A64624"/>
                </a:solidFill>
                <a:latin typeface="Calibri"/>
              </a:rPr>
              <a:t>Within 20% accuracy: 42.0%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331720"/>
            <a:ext cx="3977639" cy="2560320"/>
          </a:xfrm>
          <a:prstGeom prst="roundRect">
            <a:avLst/>
          </a:prstGeom>
          <a:solidFill>
            <a:srgbClr val="E6EBE0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2578608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1">
                <a:solidFill>
                  <a:srgbClr val="1D1B16"/>
                </a:solidFill>
                <a:latin typeface="Georgia"/>
              </a:rPr>
              <a:t>RMSE gain vs IWPC PGx: 0.02 mg/week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D1B16"/>
                </a:solidFill>
                <a:latin typeface="Georgia"/>
              </a:rPr>
              <a:t>Within-20% gain vs IWPC PGx: 0.3 points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F4A52"/>
                </a:solidFill>
                <a:latin typeface="Georgia"/>
              </a:rPr>
              <a:t>Clinical-only IWPC: RMSE 13.84, MAE 10.07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Source cohort: IWPC Subject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4A52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524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D1B16"/>
                </a:solidFill>
                <a:latin typeface="Georgia"/>
              </a:rPr>
              <a:t>Top three models are tightly grouped, but the tuned repository model lands first on RMSE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834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933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D1B16"/>
                </a:solidFill>
                <a:latin typeface="Georgia"/>
              </a:rPr>
              <a:t>Our Model (Tuned LightGBM)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163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999232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11.90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2958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712464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8.70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24281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25696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0.421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95604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WITHIN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38928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42.0%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508760"/>
            <a:ext cx="2834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7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7" y="19933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D1B16"/>
                </a:solidFill>
                <a:latin typeface="Georgia"/>
              </a:rPr>
              <a:t>IWPC Pharmacogenetic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7" y="28163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7" y="2999232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11.92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352958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MAE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3712464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8.65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7" y="424281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R²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7" y="4425696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0.419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8807" y="495604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WITHIN 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7" y="5138928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41.7%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1508760"/>
            <a:ext cx="2834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8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1993392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D1B16"/>
                </a:solidFill>
                <a:latin typeface="Georgia"/>
              </a:rPr>
              <a:t>Linear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8" y="28163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8" y="2999232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11.92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352958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MAE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8" y="3712464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8.74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424281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8" y="4425696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0.419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53528" y="495604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WITHIN 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5138928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4D5B36"/>
                </a:solidFill>
                <a:latin typeface="Calibri"/>
              </a:rPr>
              <a:t>41.3%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Metric priority: RMSE, then MAE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4A5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524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D1B16"/>
                </a:solidFill>
                <a:latin typeface="Georgia"/>
              </a:rPr>
              <a:t>Aggregate metrics show only a narrow edge over the IWPC pharmacogenetic calculator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7178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wpc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27632"/>
            <a:ext cx="67665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417320"/>
            <a:ext cx="3474720" cy="4572000"/>
          </a:xfrm>
          <a:prstGeom prst="roundRect">
            <a:avLst/>
          </a:prstGeom>
          <a:solidFill>
            <a:srgbClr val="E6EBE0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691640"/>
            <a:ext cx="299923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The tuned LightGBM model leads on RMSE and R², but the IWPC pharmacogenetic formula remains highly competitive.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Linear regression almost matches the top two, which suggests the signal is still strongly structured and not purely nonlinear.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Random forest underperforms on this cohort and should not be treated as a preferred baseline here.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The clinical-only IWPC formula shows a clear drop, which supports keeping genotype-aware modeling in the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Images generated from repository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4A5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524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FIT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D1B16"/>
                </a:solidFill>
                <a:latin typeface="Georgia"/>
              </a:rPr>
              <a:t>Patient-level scatter plots show similar calibration bands for the top genotype-aware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0881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wpc_predic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64208"/>
            <a:ext cx="103784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Shared holdout split: random_state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4A5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524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D1B16"/>
                </a:solidFill>
                <a:latin typeface="Georgia"/>
              </a:rPr>
              <a:t>SHAP confirms that the best model still follows clinically credible genetic and anthropometric drivers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wpc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45920"/>
            <a:ext cx="507492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17320"/>
            <a:ext cx="5166360" cy="4663440"/>
          </a:xfrm>
          <a:prstGeom prst="roundRect">
            <a:avLst/>
          </a:prstGeom>
          <a:solidFill>
            <a:srgbClr val="E6EBE0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6420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Global feature influence is led by VKORC1, then weight, age, and CYP2C9.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The strongest SHAP features align with known warfarin dose biology instead of opaque proxy variables.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D1B16"/>
                </a:solidFill>
                <a:latin typeface="Georgia"/>
              </a:rPr>
              <a:t>Best model explained here: Our Model (Tuned LightGBM).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971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VKORC1 A/A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971800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4.292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3310128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VKORC1 G/G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3310128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3.202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64845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Weight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3648456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3.053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986784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Age Decades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3986784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3.011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325112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CYP2C9 *1/*1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4325112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1.855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66344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Height 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663440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1.021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001768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Amiodarone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5001768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0.589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34009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D1B16"/>
                </a:solidFill>
                <a:latin typeface="Calibri"/>
              </a:rPr>
              <a:t>Race Group Asian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5340096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1">
                <a:solidFill>
                  <a:srgbClr val="4D5B36"/>
                </a:solidFill>
                <a:latin typeface="Calibri"/>
              </a:rPr>
              <a:t>0.440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Best model explainability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4A5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noFill/>
          <a:ln w="1524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64624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D1B16"/>
                </a:solidFill>
                <a:latin typeface="Georgia"/>
              </a:rPr>
              <a:t>Complete ranking table and SHAP distribution 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81328"/>
          <a:ext cx="56235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56578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D1B16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EBE3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D1B16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BE3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D1B16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EBE3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D1B16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EBE3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D1B16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EBE3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1D1B16"/>
                          </a:solidFill>
                          <a:latin typeface="Calibri"/>
                        </a:rPr>
                        <a:t>within_20_pct</a:t>
                      </a:r>
                    </a:p>
                  </a:txBody>
                  <a:tcPr>
                    <a:solidFill>
                      <a:srgbClr val="EBE3D4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Our Model (Tuned LightGBM)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11.9034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8.7012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0.4209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41.9530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IWPC Pharmacogenetic Calculator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11.9198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8.6526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0.4193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41.6817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11.9238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8.7364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0.4190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41.3201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12.0937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8.8810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0.4023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41.5009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12.2332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8.8270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0.3884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41.4105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13.0928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9.5326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0.2994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39.6022</a:t>
                      </a:r>
                    </a:p>
                  </a:txBody>
                  <a:tcPr/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IWPC Clinical 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13.8394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10.0696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0.2173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D1B16"/>
                          </a:solidFill>
                          <a:latin typeface="Calibri"/>
                        </a:rPr>
                        <a:t>35.6239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55080" y="1481328"/>
            <a:ext cx="5029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3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wpc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719072"/>
            <a:ext cx="4617720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190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F4A52"/>
                </a:solidFill>
                <a:latin typeface="Calibri"/>
              </a:rPr>
              <a:t>Generated from iwpc_model_metrics.csv and iwpc_shap_top_features.csv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1908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F4A52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